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365760"/>
            <a:ext cx="54864" cy="54864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005840"/>
            <a:ext cx="54864" cy="54864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0" y="548640"/>
            <a:ext cx="54864" cy="54864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95760" y="1828800"/>
            <a:ext cx="54864" cy="54864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5943600"/>
            <a:ext cx="54864" cy="54864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0" y="6217920"/>
            <a:ext cx="54864" cy="54864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26080"/>
            <a:ext cx="103601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999232"/>
            <a:ext cx="10360152" cy="1828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🌊 JANGADA MACEIÓ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90D9"/>
                </a:solidFill>
                <a:latin typeface="Calibri"/>
              </a:rPr>
              <a:t>×  SIRIUS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8B8"/>
                </a:solidFill>
                <a:latin typeface="Calibri"/>
              </a:rPr>
              <a:t>De atendimento manual a um sistema que trabalha enquanto você navega.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A951"/>
                </a:solidFill>
                <a:latin typeface="Calibri"/>
              </a:rPr>
              <a:t>PROPOSTA COMERCIAL — MARÇO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32004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  <a:latin typeface="Calibr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Seu maior concorrente não é
outra jangada.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6858000" cy="128016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91440" cy="128016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0A8B8"/>
                </a:solidFill>
                <a:latin typeface="Calibri"/>
              </a:rPr>
              <a:t>"Tenho que parar o que estou fazendo
para responder o WhatsApp, tirar dúvidas,
passar valores e tentar fechar o agendamento."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457200"/>
            <a:ext cx="3657600" cy="10972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5486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502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0D9"/>
                </a:solidFill>
                <a:latin typeface="Calibri"/>
              </a:rPr>
              <a:t>~100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conversas/mês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657600" cy="10972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783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0D9"/>
                </a:solidFill>
                <a:latin typeface="Calibri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taxa de conversão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017520"/>
            <a:ext cx="3657600" cy="10972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0632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0D9"/>
                </a:solidFill>
                <a:latin typeface="Calibri"/>
              </a:rPr>
              <a:t>5–15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5204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por conversa manual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297679"/>
            <a:ext cx="3657600" cy="10972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3891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34339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90D9"/>
                </a:solidFill>
                <a:latin typeface="Calibri"/>
              </a:rPr>
              <a:t>Mesmo roteiro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80059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repetido centenas de vezes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36576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  <a:latin typeface="Calibri"/>
              </a:rPr>
              <a:t>RECONHECIMENTO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Você já deu o primeiro passo.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0A8B8"/>
                </a:solidFill>
                <a:latin typeface="Calibri"/>
              </a:rPr>
              <a:t>A Sirius não vai recomeçar do zero — vai completar o que você já começou.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5303520" cy="9144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Boas-vindas + lista de passeios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  <a:latin typeface="Calibri"/>
              </a:rPr>
              <a:t>✅ Automático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73152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651760"/>
            <a:ext cx="5303520" cy="9144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Detalhes do passeio escolhido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59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alibri"/>
              </a:rPr>
              <a:t>❌  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51760"/>
            <a:ext cx="73152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303520" cy="9144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Coleta de nomes dos passageiros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alibri"/>
              </a:rPr>
              <a:t>❌  Manual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73152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303520" cy="9144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Envio do PIX e confirmação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9" y="3931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alibri"/>
              </a:rPr>
              <a:t>❌  Manual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73152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29200"/>
            <a:ext cx="5303520" cy="9144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Registro do agendamento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alibri"/>
              </a:rPr>
              <a:t>❌  Manual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29200"/>
            <a:ext cx="5303520" cy="9144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Consulta de disponibilidade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  <a:latin typeface="Calibri"/>
              </a:rPr>
              <a:t>❌  Manual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029200"/>
            <a:ext cx="73152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  <a:latin typeface="Calibri"/>
              </a:rPr>
              <a:t>O PORTFÓLIO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produto que você vende é incrível.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566160" cy="18288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🏖️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Piscinas Naturais de Ponta Verde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566160" cy="18288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Banho de Lua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90D9"/>
                </a:solidFill>
                <a:latin typeface="Calibri"/>
              </a:rPr>
              <a:t>Passeio noturno • R$80/pessoa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566160" cy="18288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1945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80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Passeio de Orla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83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90D9"/>
                </a:solidFill>
                <a:latin typeface="Calibri"/>
              </a:rPr>
              <a:t>Manhã, pôr do sol ou noturno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3566160" cy="18288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Nascer do Sol nas Piscinas Naturais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114800"/>
            <a:ext cx="3566160" cy="18288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297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98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Piscinas Naturais de Pajuçara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4114800"/>
            <a:ext cx="3566160" cy="18288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2976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98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Piscinas Naturais de Ipioca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8B8"/>
                </a:solidFill>
                <a:latin typeface="Calibri"/>
              </a:rPr>
              <a:t>Capacidade: até 15 pessoas • Desconto grupos a partir de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  <a:latin typeface="Calibri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Um assistente que trabalha 24h
enquanto você faz o que importa.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1737360" cy="20116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CLIENTE
envia mensagem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90D9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743200"/>
            <a:ext cx="1737360" cy="20116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880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611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AGENTE SDR
responde na hora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90D9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743200"/>
            <a:ext cx="1737360" cy="20116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880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611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COLETA nomes
e data desejada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90D9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743200"/>
            <a:ext cx="1737360" cy="20116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880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611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PIX enviado
automaticamente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90D9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743200"/>
            <a:ext cx="1737360" cy="20116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880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611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PAINEL atualizado
em tempo real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3520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90D9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0" y="2743200"/>
            <a:ext cx="1737360" cy="201168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28803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611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JAAZIEL navega
sem interrupção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A951"/>
                </a:solidFill>
                <a:latin typeface="Calibri"/>
              </a:rPr>
              <a:t>Jaaziel só é chamado no momento do pagamento final.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32004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  <a:latin typeface="Calibri"/>
              </a:rPr>
              <a:t>OS 3 PLANOS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Escolha onde você quer começar.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828800"/>
            <a:ext cx="2834640" cy="164592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1828800"/>
            <a:ext cx="283464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965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90D9"/>
                </a:solidFill>
                <a:latin typeface="Calibri"/>
              </a:rPr>
              <a:t>⭐ ESTRELA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R$997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  <a:latin typeface="Calibri"/>
              </a:rPr>
              <a:t>Alta: R$397/mês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0906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  <a:latin typeface="Calibri"/>
              </a:rPr>
              <a:t>Baixa: R$197/mês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828800"/>
            <a:ext cx="2834640" cy="164592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1828800"/>
            <a:ext cx="2834640" cy="9144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1965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A951"/>
                </a:solidFill>
                <a:latin typeface="Calibri"/>
              </a:rPr>
              <a:t>🌌 CONSTELAÇÃO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R$1.997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  <a:latin typeface="Calibri"/>
              </a:rPr>
              <a:t>Alta: R$597/mês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30906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  <a:latin typeface="Calibri"/>
              </a:rPr>
              <a:t>Baixa: R$297/mês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828800"/>
            <a:ext cx="2834640" cy="164592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0" y="1828800"/>
            <a:ext cx="2834640" cy="91440"/>
          </a:xfrm>
          <a:prstGeom prst="rect">
            <a:avLst/>
          </a:prstGeom>
          <a:solidFill>
            <a:srgbClr val="C85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965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50A9"/>
                </a:solidFill>
                <a:latin typeface="Calibri"/>
              </a:rPr>
              <a:t>🚀 UNIVERSO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R$3.497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  <a:latin typeface="Calibri"/>
              </a:rPr>
              <a:t>Alta: R$897/mês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0906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A8B8"/>
                </a:solidFill>
                <a:latin typeface="Calibri"/>
              </a:rPr>
              <a:t>Baixa: R$447/mês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224028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Agente SDR WhatsApp completo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657600"/>
            <a:ext cx="283464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703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657600"/>
            <a:ext cx="283464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59" y="3703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78240" y="3657600"/>
            <a:ext cx="283464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3703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224028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60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Site profissional com 6 passeios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4114800"/>
            <a:ext cx="283464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4640" y="4160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55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4114800"/>
            <a:ext cx="283464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59" y="4160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4114800"/>
            <a:ext cx="283464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41605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72000"/>
            <a:ext cx="224028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617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Botões de agendamento no site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4572000"/>
            <a:ext cx="283464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55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4572000"/>
            <a:ext cx="283464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59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4572000"/>
            <a:ext cx="283464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46177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029200"/>
            <a:ext cx="224028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0749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Chat do site integrado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5029200"/>
            <a:ext cx="283464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0" y="50749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55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5029200"/>
            <a:ext cx="283464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59" y="50749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55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5029200"/>
            <a:ext cx="283464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50749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486400"/>
            <a:ext cx="224028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5321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Painel interno de agendamentos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486400"/>
            <a:ext cx="283464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834640" y="5532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55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0" y="5486400"/>
            <a:ext cx="283464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59" y="5532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55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78240" y="5486400"/>
            <a:ext cx="2834640" cy="438912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69680" y="5532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943600"/>
            <a:ext cx="224028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9893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  <a:latin typeface="Calibri"/>
              </a:rPr>
              <a:t>Sistema autônomo de reservas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0" y="5943600"/>
            <a:ext cx="283464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0" y="5989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55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60720" y="5943600"/>
            <a:ext cx="283464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52159" y="5989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55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78240" y="5943600"/>
            <a:ext cx="2834640" cy="43891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69680" y="5989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36576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90D9"/>
                </a:solidFill>
                <a:latin typeface="Calibri"/>
              </a:rPr>
              <a:t>⭐  PLANO ESTRELA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essencial funcionando.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Recebe o cliente com boas-vindas personalizadas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5059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Apresenta os 6 passeios com descrições e valores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809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8094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Responde dúvidas frequentes (horários, localização, capacidade)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11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Informa desconto para grupos a partir de 10 pessoas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41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4164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Coleta nomes dos passageiros para lista de embarque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Envia dados do PIX automaticamente (R$30/pessoa)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02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0235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Confirma agendamento após envio do comprovante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327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3270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Passa para Jaaziel apenas no pagamento final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1828800"/>
            <a:ext cx="3657600" cy="438912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1828800"/>
            <a:ext cx="3657600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90D9"/>
                </a:solidFill>
                <a:latin typeface="Calibri"/>
              </a:rPr>
              <a:t>INVESTIMENTO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14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R$997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Implementação (caso de teste)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703320"/>
            <a:ext cx="3291840" cy="18288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Alta temporada (out–fev)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90D9"/>
                </a:solidFill>
                <a:latin typeface="Calibri"/>
              </a:rPr>
              <a:t>R$397 /mês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09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Baixa temporada (mar–set)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0A8B8"/>
                </a:solidFill>
                <a:latin typeface="Calibri"/>
              </a:rPr>
              <a:t>R$197 /mês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4114800" cy="36576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A951"/>
                </a:solidFill>
                <a:latin typeface="Calibri"/>
              </a:rPr>
              <a:t>🌌  PLANO CONSTELAÇÃO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Sua vitrine profissional
na internet.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B8"/>
                </a:solidFill>
                <a:latin typeface="Calibri"/>
              </a:rPr>
              <a:t>Tudo do Estrela 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Página para cada passeio com foto 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832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Calendário de disponibilidade (Banho de Lua lunar)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319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Botão 'Agendar agora' → direto ao agente 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805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Galeria de fotos dos passeios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2920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Área de depoimentos de clientes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778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Localização e ponto de embarque em destaque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17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8B8"/>
                </a:solidFill>
                <a:latin typeface="Calibri"/>
              </a:rPr>
              <a:t>Quando alguém pesquisar 'passeio de jangada Maceió'
no Google — aparece você.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828800"/>
            <a:ext cx="3657600" cy="438912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3657600" cy="10972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A951"/>
                </a:solidFill>
                <a:latin typeface="Calibri"/>
              </a:rPr>
              <a:t>INVESTIMENTO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514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R$1.997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Implementação (caso de teste)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703320"/>
            <a:ext cx="3291840" cy="18288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Alta temporada (out–fev)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A951"/>
                </a:solidFill>
                <a:latin typeface="Calibri"/>
              </a:rPr>
              <a:t>R$597 /mês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709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Baixa temporada (mar–set)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0A8B8"/>
                </a:solidFill>
                <a:latin typeface="Calibri"/>
              </a:rPr>
              <a:t>R$297 /mês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4114800" cy="36576"/>
          </a:xfrm>
          <a:prstGeom prst="rect">
            <a:avLst/>
          </a:prstGeom>
          <a:solidFill>
            <a:srgbClr val="C85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850A9"/>
                </a:solidFill>
                <a:latin typeface="Calibri"/>
              </a:rPr>
              <a:t>🚀  PLANO UNIVERSO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Seu negócio no
piloto automático.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B8"/>
                </a:solidFill>
                <a:latin typeface="Calibri"/>
              </a:rPr>
              <a:t>Tudo do Constelação 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Agente também no chat do site (mesma 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832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Painel interno exclusivo para Jaaziel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319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Lista de passageiros por passeio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805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Controle de sinais PIX recebidos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2920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Alertas de novos agendamentos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778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Funciona no celular (painel responsivo)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035040"/>
            <a:ext cx="6858000" cy="548640"/>
          </a:xfrm>
          <a:prstGeom prst="rect">
            <a:avLst/>
          </a:prstGeom>
          <a:solidFill>
            <a:srgbClr val="15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807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50A9"/>
                </a:solidFill>
                <a:latin typeface="Calibri"/>
              </a:rPr>
              <a:t>🤖  Reservas aparecem automaticamente no painel. Sem planilhas. Sem papel. Sem esquecimento.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828800"/>
            <a:ext cx="3657600" cy="438912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828800"/>
            <a:ext cx="3657600" cy="109728"/>
          </a:xfrm>
          <a:prstGeom prst="rect">
            <a:avLst/>
          </a:prstGeom>
          <a:solidFill>
            <a:srgbClr val="C85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50A9"/>
                </a:solidFill>
                <a:latin typeface="Calibri"/>
              </a:rPr>
              <a:t>INVESTIMENTO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514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R$3.497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Implementação (caso de teste)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03320"/>
            <a:ext cx="3291840" cy="18288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840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Alta temporada (out–fev)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850A9"/>
                </a:solidFill>
                <a:latin typeface="Calibri"/>
              </a:rPr>
              <a:t>R$897 /mês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709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Baixa temporada (mar–set)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0A8B8"/>
                </a:solidFill>
                <a:latin typeface="Calibri"/>
              </a:rPr>
              <a:t>R$447 /mês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  <a:latin typeface="Calibri"/>
              </a:rPr>
              <a:t>RETORNO SOBRE O INVESTIMENTO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Quanto isso vale para
seu negócio?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577840" cy="329184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577840" cy="914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06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935"/>
                </a:solidFill>
                <a:latin typeface="Calibri"/>
              </a:rPr>
              <a:t>HOJE — Sem Sirius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• 100 conversas → 30 agendamentos (30%)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49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• Horas perdidas respondendo manualmente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43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• Vagas perdidas quando Jaaziel está no 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37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• Sem registro organizado de reservas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468880"/>
            <a:ext cx="5577840" cy="329184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468880"/>
            <a:ext cx="5577840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  <a:latin typeface="Calibri"/>
              </a:rPr>
              <a:t>COM AGENTE SIRIUS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54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• 100 conversas → 37+ agendamentos (37%)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49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• Zero tempo gasto em respostas repetitivas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43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• Responde 24h mesmo durante os passeios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9377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  <a:latin typeface="Calibri"/>
              </a:rPr>
              <a:t>• Painel com todos os agendamentos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solidFill>
            <a:srgbClr val="08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CAF50"/>
                </a:solidFill>
                <a:latin typeface="Calibri"/>
              </a:rPr>
              <a:t>💡  O agente se paga no primeiro agendamento extra que fechar sozinho.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36576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  <a:latin typeface="Calibri"/>
              </a:rPr>
              <a:t>MODELO SAZONAL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Sirius entende que
jangada tem temporada.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5486400" cy="32004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548640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90D9"/>
                </a:solidFill>
                <a:latin typeface="Calibri"/>
              </a:rPr>
              <a:t>ALTA TEMPORADA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Outubro → Fevereiro
5 meses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8B8"/>
                </a:solidFill>
                <a:latin typeface="Calibri"/>
              </a:rPr>
              <a:t>Fee completo
Sistema a plena capacidade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2560320"/>
            <a:ext cx="5486400" cy="3200400"/>
          </a:xfrm>
          <a:prstGeom prst="rect">
            <a:avLst/>
          </a:prstGeom>
          <a:solidFill>
            <a:srgbClr val="10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2560320"/>
            <a:ext cx="5486400" cy="91440"/>
          </a:xfrm>
          <a:prstGeom prst="rect">
            <a:avLst/>
          </a:prstGeom>
          <a:solidFill>
            <a:srgbClr val="A0A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A8B8"/>
                </a:solidFill>
                <a:latin typeface="Calibri"/>
              </a:rPr>
              <a:t>BAIXA TEMPORADA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Março → Setembro
7 meses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23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8B8"/>
                </a:solidFill>
                <a:latin typeface="Calibri"/>
              </a:rPr>
              <a:t>Fee reduzido ~50%
Manutenção e atualização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8B8"/>
                </a:solidFill>
                <a:latin typeface="Calibri"/>
              </a:rPr>
              <a:t>Contrato mínimo: 12 meses  •  Caso de teste: desconto em troca de case de sucesso documentado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36576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  <a:latin typeface="Calibri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começar, basta um sim.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46120"/>
            <a:ext cx="1005840" cy="3657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926080"/>
            <a:ext cx="640080" cy="640080"/>
          </a:xfrm>
          <a:prstGeom prst="ellipse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Dia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Assinatura e
pagamento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246120"/>
            <a:ext cx="1005840" cy="3657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51760" y="292608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Dia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1605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Kickoff e coleta
de conteúdo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3246120"/>
            <a:ext cx="1005840" cy="3657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292608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Dia 7–10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1605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Agente WhatsApp
no ar 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3246120"/>
            <a:ext cx="1005840" cy="3657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2926080"/>
            <a:ext cx="640080" cy="64008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Dia 15–21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1605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Site publicado
(Planos 2 e 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246120"/>
            <a:ext cx="1005840" cy="36576"/>
          </a:xfrm>
          <a:prstGeom prst="rect">
            <a:avLst/>
          </a:prstGeom>
          <a:solidFill>
            <a:srgbClr val="22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0" y="2926080"/>
            <a:ext cx="640080" cy="640080"/>
          </a:xfrm>
          <a:prstGeom prst="ellipse">
            <a:avLst/>
          </a:prstGeom>
          <a:solidFill>
            <a:srgbClr val="C850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Dia 21–30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1605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Painel interno
(Plano 3)</a:t>
            </a:r>
          </a:p>
        </p:txBody>
      </p:sp>
      <p:sp>
        <p:nvSpPr>
          <p:cNvPr id="26" name="Oval 25"/>
          <p:cNvSpPr/>
          <p:nvPr/>
        </p:nvSpPr>
        <p:spPr>
          <a:xfrm>
            <a:off x="10332720" y="2926080"/>
            <a:ext cx="640080" cy="6400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  <a:latin typeface="Calibri"/>
              </a:rPr>
              <a:t>Dia 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1605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Go-live
completo 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943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C8A951"/>
                </a:solidFill>
                <a:latin typeface="Calibri"/>
              </a:rPr>
              <a:t>"Qual plano faz mais sentido para onde você quer chegar?"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" y="182880"/>
            <a:ext cx="73152" cy="73152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704320" y="457200"/>
            <a:ext cx="73152" cy="73152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6400800"/>
            <a:ext cx="73152" cy="73152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0" y="6217920"/>
            <a:ext cx="73152" cy="73152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0" y="137160"/>
            <a:ext cx="73152" cy="73152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0" y="6537960"/>
            <a:ext cx="73152" cy="73152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3200400"/>
            <a:ext cx="85313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273552"/>
            <a:ext cx="8531352" cy="18288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0972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  <a:latin typeface="Calibri"/>
              </a:rPr>
              <a:t>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Jangada Maceió merece um sistema tão
profissional quanto seus passeios.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0A8B8"/>
                </a:solidFill>
                <a:latin typeface="Calibri"/>
              </a:rPr>
              <a:t>"Enquanto você navega, seu negócio continua crescendo."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90D9"/>
                </a:solidFill>
                <a:latin typeface="Calibri"/>
              </a:rPr>
              <a:t>SIRIUS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8B8"/>
                </a:solidFill>
                <a:latin typeface="Calibri"/>
              </a:rPr>
              <a:t>Automações • Agentes de IA • Sites •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